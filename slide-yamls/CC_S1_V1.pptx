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 — 環境構築と魔法体験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5029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Codeがもたらす
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「AI駆動開発」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とは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5661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日本語で指示を出すだけで、AIが自律的にコードを書き、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アプリを組み立てる。新しい開発体験の全体像をお伝えします。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動画 1 / 5   |   5分   |   標準モード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7" name="Shape 5"/>
          <p:cNvSpPr/>
          <p:nvPr/>
        </p:nvSpPr>
        <p:spPr>
          <a:xfrm>
            <a:off x="6217920" y="256032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0D111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27432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BF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TODOアプリを作って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 ファイルを作成しています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 index.html を生成しました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BF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完成しました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AI+ School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Code講座 — セクション1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AI+ School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Code とは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54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CLIベースのAIエージェント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9659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ターミナル上で動作し、日本語の指示だけでコード生成・ファイル操作・エラー修正まで自律的に実行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554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コピペ不要の直接操作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9659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チャット型AIと違い、PCのファイルを直接操作。指示を出したら見ているだけで成果物が完成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108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Anthropic社の公式ツール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35204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AIの開発元が提供する公式CLI。高い安全性とパフォーマンスを両立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292608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2F2F2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3108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プログラミング経験不問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92040" y="35204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「こういうものを作って」と日本語で伝えるだけ。コードが書けなくてもアプリが作れる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709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WEIN / BACKSTAGE Group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858000" y="4709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Code講座 — セクション1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AI+ School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AI駆動開発の概念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657600" cy="2926080"/>
          </a:xfrm>
          <a:prstGeom prst="roundRect">
            <a:avLst>
              <a:gd name="adj" fmla="val 2500"/>
            </a:avLst>
          </a:prstGeom>
          <a:solidFill>
            <a:srgbClr val="F2F2F2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630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従来の開発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人間がすべて書く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・コードを一行ずつ手書き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・エラーを自分で探して修正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・テストも手動で繰り返す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・完成まで数日〜数週間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0" y="25603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5029200" y="1371600"/>
            <a:ext cx="3657600" cy="2926080"/>
          </a:xfrm>
          <a:prstGeom prst="roundRect">
            <a:avLst>
              <a:gd name="adj" fmla="val 2500"/>
            </a:avLst>
          </a:prstGeom>
          <a:solidFill>
            <a:srgbClr val="EEF2FF"/>
          </a:solidFill>
          <a:ln w="10160">
            <a:solidFill>
              <a:srgbClr val="4A9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0" y="14630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AI駆動開発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212080" y="1828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人間は「何を作るか」を伝える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12080" y="228600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AIがコードを自動生成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エラーもAIが自律的に修正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ファイル配置まで自動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数分で動くものが完成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709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WEIN / BACKSTAGE Group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858000" y="4709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Code講座 — セクション1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AI+ School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3トラック構成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26464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EBF5F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入門トラック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全員必須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468880"/>
            <a:ext cx="2286000" cy="1645920"/>
          </a:xfrm>
          <a:prstGeom prst="roundRect">
            <a:avLst>
              <a:gd name="adj" fmla="val 3333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0604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S1: 環境構築と魔法体験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S2: AIの記憶とセキュリティ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371600"/>
            <a:ext cx="2651760" cy="54864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12" name="Shape 10"/>
          <p:cNvSpPr/>
          <p:nvPr/>
        </p:nvSpPr>
        <p:spPr>
          <a:xfrm>
            <a:off x="3291840" y="1426464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3EEFF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6002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営業・事務系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7472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業務自動化したい方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0" y="2468880"/>
            <a:ext cx="2286000" cy="1645920"/>
          </a:xfrm>
          <a:prstGeom prst="roundRect">
            <a:avLst>
              <a:gd name="adj" fmla="val 3333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611880" y="260604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S3: 業務自動化の武器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S4: ユースケースとマネタイズ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371600"/>
            <a:ext cx="2651760" cy="54864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18" name="Shape 16"/>
          <p:cNvSpPr/>
          <p:nvPr/>
        </p:nvSpPr>
        <p:spPr>
          <a:xfrm>
            <a:off x="6126480" y="1426464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E8F4FD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16002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7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開発系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0936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アプリを作りたい方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09360" y="2468880"/>
            <a:ext cx="2286000" cy="1645920"/>
          </a:xfrm>
          <a:prstGeom prst="roundRect">
            <a:avLst>
              <a:gd name="adj" fmla="val 3333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260604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S5: GitHub＆スペック駆動開発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S6: デプロイとプロの開発フロー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709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WEIN / BACKSTAGE Group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858000" y="4709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Code講座 — セクション1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AI+ School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ペルソナ別 受講フロー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463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Aさん：全部やりたい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やる気も理解度も高い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2148840"/>
            <a:ext cx="2103120" cy="292608"/>
          </a:xfrm>
          <a:prstGeom prst="roundRect">
            <a:avLst>
              <a:gd name="adj" fmla="val 12500"/>
            </a:avLst>
          </a:prstGeom>
          <a:solidFill>
            <a:srgbClr val="EBF5F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488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入門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423160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▼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731520" y="2606040"/>
            <a:ext cx="2103120" cy="292608"/>
          </a:xfrm>
          <a:prstGeom prst="roundRect">
            <a:avLst>
              <a:gd name="adj" fmla="val 12500"/>
            </a:avLst>
          </a:prstGeom>
          <a:solidFill>
            <a:srgbClr val="EBF5FF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6060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 入門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2880360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▼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731520" y="3063240"/>
            <a:ext cx="2103120" cy="292608"/>
          </a:xfrm>
          <a:prstGeom prst="roundRect">
            <a:avLst>
              <a:gd name="adj" fmla="val 12500"/>
            </a:avLst>
          </a:prstGeom>
          <a:solidFill>
            <a:srgbClr val="F3EEFF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0632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営業事務系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3337560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▼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731520" y="3520440"/>
            <a:ext cx="2103120" cy="292608"/>
          </a:xfrm>
          <a:prstGeom prst="roundRect">
            <a:avLst>
              <a:gd name="adj" fmla="val 12500"/>
            </a:avLst>
          </a:prstGeom>
          <a:solidFill>
            <a:srgbClr val="F3EEFF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5204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 営業事務系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3794760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▼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731520" y="3977640"/>
            <a:ext cx="2103120" cy="292608"/>
          </a:xfrm>
          <a:prstGeom prst="roundRect">
            <a:avLst>
              <a:gd name="adj" fmla="val 12500"/>
            </a:avLst>
          </a:prstGeom>
          <a:solidFill>
            <a:srgbClr val="E8F4FD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9776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7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S5 開発系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4251960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▼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731520" y="4434840"/>
            <a:ext cx="2103120" cy="292608"/>
          </a:xfrm>
          <a:prstGeom prst="roundRect">
            <a:avLst>
              <a:gd name="adj" fmla="val 12500"/>
            </a:avLst>
          </a:prstGeom>
          <a:solidFill>
            <a:srgbClr val="E8F4FD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4348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7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S6 開発系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91840" y="137160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F2F2F2"/>
          </a:solidFill>
          <a:ln/>
        </p:spPr>
      </p:sp>
      <p:sp>
        <p:nvSpPr>
          <p:cNvPr id="26" name="Text 24"/>
          <p:cNvSpPr/>
          <p:nvPr/>
        </p:nvSpPr>
        <p:spPr>
          <a:xfrm>
            <a:off x="3429000" y="1463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Bさん：業務自動化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429000" y="17830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事務効率化に集中したい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566160" y="2148840"/>
            <a:ext cx="2103120" cy="292608"/>
          </a:xfrm>
          <a:prstGeom prst="roundRect">
            <a:avLst>
              <a:gd name="adj" fmla="val 12500"/>
            </a:avLst>
          </a:prstGeom>
          <a:solidFill>
            <a:srgbClr val="EBF5FF"/>
          </a:solidFill>
          <a:ln/>
        </p:spPr>
      </p:sp>
      <p:sp>
        <p:nvSpPr>
          <p:cNvPr id="29" name="Text 27"/>
          <p:cNvSpPr/>
          <p:nvPr/>
        </p:nvSpPr>
        <p:spPr>
          <a:xfrm>
            <a:off x="3566160" y="21488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入門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566160" y="2423160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▼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3566160" y="2606040"/>
            <a:ext cx="2103120" cy="292608"/>
          </a:xfrm>
          <a:prstGeom prst="roundRect">
            <a:avLst>
              <a:gd name="adj" fmla="val 12500"/>
            </a:avLst>
          </a:prstGeom>
          <a:solidFill>
            <a:srgbClr val="EBF5FF"/>
          </a:solidFill>
          <a:ln/>
        </p:spPr>
      </p:sp>
      <p:sp>
        <p:nvSpPr>
          <p:cNvPr id="32" name="Text 30"/>
          <p:cNvSpPr/>
          <p:nvPr/>
        </p:nvSpPr>
        <p:spPr>
          <a:xfrm>
            <a:off x="3566160" y="26060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 入門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566160" y="2880360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▼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3566160" y="3063240"/>
            <a:ext cx="2103120" cy="292608"/>
          </a:xfrm>
          <a:prstGeom prst="roundRect">
            <a:avLst>
              <a:gd name="adj" fmla="val 12500"/>
            </a:avLst>
          </a:prstGeom>
          <a:solidFill>
            <a:srgbClr val="F3EEFF"/>
          </a:solidFill>
          <a:ln/>
        </p:spPr>
      </p:sp>
      <p:sp>
        <p:nvSpPr>
          <p:cNvPr id="35" name="Text 33"/>
          <p:cNvSpPr/>
          <p:nvPr/>
        </p:nvSpPr>
        <p:spPr>
          <a:xfrm>
            <a:off x="3566160" y="30632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営業事務系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566160" y="3337560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▼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3566160" y="3520440"/>
            <a:ext cx="2103120" cy="292608"/>
          </a:xfrm>
          <a:prstGeom prst="roundRect">
            <a:avLst>
              <a:gd name="adj" fmla="val 12500"/>
            </a:avLst>
          </a:prstGeom>
          <a:solidFill>
            <a:srgbClr val="F3EEFF"/>
          </a:solidFill>
          <a:ln/>
        </p:spPr>
      </p:sp>
      <p:sp>
        <p:nvSpPr>
          <p:cNvPr id="38" name="Text 36"/>
          <p:cNvSpPr/>
          <p:nvPr/>
        </p:nvSpPr>
        <p:spPr>
          <a:xfrm>
            <a:off x="3566160" y="35204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 営業事務系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126480" y="137160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F2F2F2"/>
          </a:solidFill>
          <a:ln/>
        </p:spPr>
      </p:sp>
      <p:sp>
        <p:nvSpPr>
          <p:cNvPr id="40" name="Text 38"/>
          <p:cNvSpPr/>
          <p:nvPr/>
        </p:nvSpPr>
        <p:spPr>
          <a:xfrm>
            <a:off x="6263640" y="1463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Cさん：開発に興味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263640" y="17830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アプリを作ってみたい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00800" y="2148840"/>
            <a:ext cx="2103120" cy="292608"/>
          </a:xfrm>
          <a:prstGeom prst="roundRect">
            <a:avLst>
              <a:gd name="adj" fmla="val 12500"/>
            </a:avLst>
          </a:prstGeom>
          <a:solidFill>
            <a:srgbClr val="EBF5FF"/>
          </a:solidFill>
          <a:ln/>
        </p:spPr>
      </p:sp>
      <p:sp>
        <p:nvSpPr>
          <p:cNvPr id="43" name="Text 41"/>
          <p:cNvSpPr/>
          <p:nvPr/>
        </p:nvSpPr>
        <p:spPr>
          <a:xfrm>
            <a:off x="6400800" y="21488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入門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00800" y="2423160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▼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6400800" y="2606040"/>
            <a:ext cx="2103120" cy="292608"/>
          </a:xfrm>
          <a:prstGeom prst="roundRect">
            <a:avLst>
              <a:gd name="adj" fmla="val 12500"/>
            </a:avLst>
          </a:prstGeom>
          <a:solidFill>
            <a:srgbClr val="EBF5FF"/>
          </a:solidFill>
          <a:ln/>
        </p:spPr>
      </p:sp>
      <p:sp>
        <p:nvSpPr>
          <p:cNvPr id="46" name="Text 44"/>
          <p:cNvSpPr/>
          <p:nvPr/>
        </p:nvSpPr>
        <p:spPr>
          <a:xfrm>
            <a:off x="6400800" y="26060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 入門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400800" y="2880360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▼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6400800" y="3063240"/>
            <a:ext cx="2103120" cy="292608"/>
          </a:xfrm>
          <a:prstGeom prst="roundRect">
            <a:avLst>
              <a:gd name="adj" fmla="val 12500"/>
            </a:avLst>
          </a:prstGeom>
          <a:solidFill>
            <a:srgbClr val="E8F4FD"/>
          </a:solidFill>
          <a:ln/>
        </p:spPr>
      </p:sp>
      <p:sp>
        <p:nvSpPr>
          <p:cNvPr id="49" name="Text 47"/>
          <p:cNvSpPr/>
          <p:nvPr/>
        </p:nvSpPr>
        <p:spPr>
          <a:xfrm>
            <a:off x="6400800" y="30632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7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S5 開発系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400800" y="3337560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▼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6400800" y="3520440"/>
            <a:ext cx="2103120" cy="292608"/>
          </a:xfrm>
          <a:prstGeom prst="roundRect">
            <a:avLst>
              <a:gd name="adj" fmla="val 12500"/>
            </a:avLst>
          </a:prstGeom>
          <a:solidFill>
            <a:srgbClr val="E8F4FD"/>
          </a:solidFill>
          <a:ln/>
        </p:spPr>
      </p:sp>
      <p:sp>
        <p:nvSpPr>
          <p:cNvPr id="52" name="Text 50"/>
          <p:cNvSpPr/>
          <p:nvPr/>
        </p:nvSpPr>
        <p:spPr>
          <a:xfrm>
            <a:off x="6400800" y="35204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7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S6 開発系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4709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WEIN / BACKSTAGE Group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858000" y="4709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Code講座 — セクション1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AI+ School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まとめ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14400" y="1463040"/>
            <a:ext cx="731520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55448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45920" y="160020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はターミナルから使うAIエージェント。日本語で指示を出すだけで、コード生成からファイル操作まで自律的に実行。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377440"/>
            <a:ext cx="731520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46888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645920" y="251460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AI駆動開発 では、人間は「何を作るか」を伝える役割。AIが実装を担当し、開発スピードが大きく向上。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291840"/>
            <a:ext cx="731520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38328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45920" y="342900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講座は 3トラック構成。入門は全員共通で、その後は目的に合わせて営業事務系または開発系を選択可能。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828800" y="4114800"/>
            <a:ext cx="548640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0" y="41148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次の動画 → </a:t>
            </a:r>
            <a:pPr algn="ctr"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「黒い画面」の基本操作と怖がらない心得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709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WEIN / BACKSTAGE Group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858000" y="4709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CC-S1-V1: 講座の全体像</dc:title>
  <dc:subject>PptxGenJS Presentation</dc:subject>
  <dc:creator>AI+ School</dc:creator>
  <cp:lastModifiedBy>AI+ School</cp:lastModifiedBy>
  <cp:revision>1</cp:revision>
  <dcterms:created xsi:type="dcterms:W3CDTF">2026-04-02T15:15:19Z</dcterms:created>
  <dcterms:modified xsi:type="dcterms:W3CDTF">2026-04-02T15:15:19Z</dcterms:modified>
</cp:coreProperties>
</file>