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AI+ School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 — 環境構築と魔法体験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2011680" cy="292608"/>
          </a:xfrm>
          <a:prstGeom prst="roundRect">
            <a:avLst>
              <a:gd name="adj" fmla="val 18750"/>
            </a:avLst>
          </a:prstGeom>
          <a:solidFill>
            <a:srgbClr val="FFF3CD"/>
          </a:solidFill>
          <a:ln w="10160">
            <a:solidFill>
              <a:srgbClr val="F0C0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716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今すぐ体験できる！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49377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5分間で
</a:t>
            </a:r>
            <a:endParaRPr lang="en-US" sz="3000" dirty="0"/>
          </a:p>
          <a:p>
            <a:pPr indent="0" marL="0">
              <a:buNone/>
            </a:pPr>
            <a:r>
              <a:rPr lang="en-US" sz="3400" b="1" dirty="0">
                <a:solidFill>
                  <a:srgbClr val="4A90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「動くアプリ」
</a:t>
            </a:r>
            <a:endParaRPr lang="en-US" sz="3000" dirty="0"/>
          </a:p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を自動で作らせてみよう！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31520" y="397764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日本語の指示一文だけで、AIが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HTMLアプリを完全自動生成する体験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4434840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動画 5 / 5   |   10分   |   画面収録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0" name="Shape 8"/>
          <p:cNvSpPr/>
          <p:nvPr/>
        </p:nvSpPr>
        <p:spPr>
          <a:xfrm>
            <a:off x="6172200" y="502920"/>
            <a:ext cx="2743200" cy="4251960"/>
          </a:xfrm>
          <a:prstGeom prst="roundRect">
            <a:avLst>
              <a:gd name="adj" fmla="val 4000"/>
            </a:avLst>
          </a:prstGeom>
          <a:solidFill>
            <a:srgbClr val="0D1117"/>
          </a:solidFill>
          <a:ln/>
        </p:spPr>
      </p:sp>
      <p:sp>
        <p:nvSpPr>
          <p:cNvPr id="11" name="Shape 9"/>
          <p:cNvSpPr/>
          <p:nvPr/>
        </p:nvSpPr>
        <p:spPr>
          <a:xfrm>
            <a:off x="6327648" y="658368"/>
            <a:ext cx="146304" cy="11887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2" name="Shape 10"/>
          <p:cNvSpPr/>
          <p:nvPr/>
        </p:nvSpPr>
        <p:spPr>
          <a:xfrm>
            <a:off x="6510528" y="658368"/>
            <a:ext cx="146304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3" name="Shape 11"/>
          <p:cNvSpPr/>
          <p:nvPr/>
        </p:nvSpPr>
        <p:spPr>
          <a:xfrm>
            <a:off x="6693408" y="658368"/>
            <a:ext cx="146304" cy="118872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914400"/>
            <a:ext cx="24688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BF0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claude
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0D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TODOアプリを作ってください
</a:t>
            </a:r>
            <a:endParaRPr lang="en-US" sz="950" dirty="0"/>
          </a:p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Creating files...
</a:t>
            </a:r>
            <a:endParaRPr lang="en-US" sz="950" dirty="0"/>
          </a:p>
          <a:p>
            <a:pPr indent="0" marL="0">
              <a:buNone/>
            </a:pPr>
            <a:r>
              <a:rPr lang="en-US" sz="900" dirty="0">
                <a:solidFill>
                  <a:srgbClr val="7BF0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index.html
</a:t>
            </a:r>
            <a:endParaRPr lang="en-US" sz="950" dirty="0"/>
          </a:p>
          <a:p>
            <a:pPr indent="0" marL="0">
              <a:buNone/>
            </a:pPr>
            <a:r>
              <a:rPr lang="en-US" sz="900" dirty="0">
                <a:solidFill>
                  <a:srgbClr val="7BF0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style.css
</a:t>
            </a:r>
            <a:endParaRPr lang="en-US" sz="950" dirty="0"/>
          </a:p>
          <a:p>
            <a:pPr indent="0" marL="0">
              <a:buNone/>
            </a:pPr>
            <a:r>
              <a:rPr lang="en-US" sz="900" dirty="0">
                <a:solidFill>
                  <a:srgbClr val="7BF0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script.js
</a:t>
            </a:r>
            <a:endParaRPr lang="en-US" sz="950" dirty="0"/>
          </a:p>
          <a:p>
            <a:pPr indent="0" marL="0">
              <a:buNone/>
            </a:pPr>
            <a:r>
              <a:rPr lang="en-US" sz="900" dirty="0">
                <a:solidFill>
                  <a:srgbClr val="FFBD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ready! Open index.html
</a:t>
            </a:r>
            <a:endParaRPr lang="en-US" sz="950" dirty="0"/>
          </a:p>
          <a:p>
            <a:pPr indent="0" marL="0">
              <a:buNone/>
            </a:pPr>
            <a:r>
              <a:rPr lang="en-US" sz="900" dirty="0">
                <a:solidFill>
                  <a:srgbClr val="FFBD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your browser.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Code講座 — セクション1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0" y="182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AI+ School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今日やること宣言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789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3つの体験を通じて「AIが自律的に動く」感覚をつかもう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097280" y="1508760"/>
            <a:ext cx="6949440" cy="841248"/>
          </a:xfrm>
          <a:prstGeom prst="roundRect">
            <a:avLst>
              <a:gd name="adj" fmla="val 8696"/>
            </a:avLst>
          </a:prstGeom>
          <a:solidFill>
            <a:srgbClr val="EBF5FF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34440" y="1673352"/>
            <a:ext cx="914400" cy="292608"/>
          </a:xfrm>
          <a:prstGeom prst="roundRect">
            <a:avLst>
              <a:gd name="adj" fmla="val 18750"/>
            </a:avLst>
          </a:prstGeom>
          <a:solidFill>
            <a:srgbClr val="4A90D9"/>
          </a:solidFill>
          <a:ln/>
        </p:spPr>
      </p:sp>
      <p:sp>
        <p:nvSpPr>
          <p:cNvPr id="8" name="Text 6"/>
          <p:cNvSpPr/>
          <p:nvPr/>
        </p:nvSpPr>
        <p:spPr>
          <a:xfrm>
            <a:off x="1234440" y="167335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体験1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331720" y="1618488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プロンプトを書いてみる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331720" y="194767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「TODOアプリを作って」と日本語で入力するだけ。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特別なコマンドは一切不要。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0" y="237744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▼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097280" y="2606040"/>
            <a:ext cx="6949440" cy="841248"/>
          </a:xfrm>
          <a:prstGeom prst="roundRect">
            <a:avLst>
              <a:gd name="adj" fmla="val 8696"/>
            </a:avLst>
          </a:prstGeom>
          <a:solidFill>
            <a:srgbClr val="F3EE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34440" y="2770632"/>
            <a:ext cx="914400" cy="292608"/>
          </a:xfrm>
          <a:prstGeom prst="roundRect">
            <a:avLst>
              <a:gd name="adj" fmla="val 18750"/>
            </a:avLst>
          </a:prstGeom>
          <a:solidFill>
            <a:srgbClr val="7B61FF"/>
          </a:solidFill>
          <a:ln/>
        </p:spPr>
      </p:sp>
      <p:sp>
        <p:nvSpPr>
          <p:cNvPr id="14" name="Text 12"/>
          <p:cNvSpPr/>
          <p:nvPr/>
        </p:nvSpPr>
        <p:spPr>
          <a:xfrm>
            <a:off x="1234440" y="277063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体験2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331720" y="2715768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6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AIが自律的に動く様子を観察する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331720" y="304495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ファイルが次々と生成される画面をただ見ているだけ。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AIが考え、判断し、実装する。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389120" y="34747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▼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097280" y="3703320"/>
            <a:ext cx="6949440" cy="841248"/>
          </a:xfrm>
          <a:prstGeom prst="roundRect">
            <a:avLst>
              <a:gd name="adj" fmla="val 8696"/>
            </a:avLst>
          </a:prstGeom>
          <a:solidFill>
            <a:srgbClr val="E9F7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34440" y="3867912"/>
            <a:ext cx="914400" cy="292608"/>
          </a:xfrm>
          <a:prstGeom prst="roundRect">
            <a:avLst>
              <a:gd name="adj" fmla="val 18750"/>
            </a:avLst>
          </a:prstGeom>
          <a:solidFill>
            <a:srgbClr val="27AE60"/>
          </a:solidFill>
          <a:ln/>
        </p:spPr>
      </p:sp>
      <p:sp>
        <p:nvSpPr>
          <p:cNvPr id="20" name="Text 18"/>
          <p:cNvSpPr/>
          <p:nvPr/>
        </p:nvSpPr>
        <p:spPr>
          <a:xfrm>
            <a:off x="1234440" y="386791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体験3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331720" y="3813048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実際に動くアプリを確認する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331720" y="414223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ブラウザで index.html を開くと、完全に機能する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TODOアプリが立ち上がる。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709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WEIN / BACKSTAGE Group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858000" y="4709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5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Code講座 — セクション1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0" y="182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AI+ School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プロンプトのコツ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8229600" cy="475488"/>
          </a:xfrm>
          <a:prstGeom prst="roundRect">
            <a:avLst>
              <a:gd name="adj" fmla="val 13462"/>
            </a:avLst>
          </a:prstGeom>
          <a:solidFill>
            <a:srgbClr val="FFF8E1"/>
          </a:solidFill>
          <a:ln w="15240">
            <a:solidFill>
              <a:srgbClr val="F9A82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155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86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完璧な指示を目指す必要なし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実際に使ったプロンプト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8229600" cy="1508760"/>
          </a:xfrm>
          <a:prstGeom prst="roundRect">
            <a:avLst>
              <a:gd name="adj" fmla="val 6061"/>
            </a:avLst>
          </a:prstGeom>
          <a:solidFill>
            <a:srgbClr val="0D1117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2221992"/>
            <a:ext cx="146304" cy="11887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0" name="Shape 8"/>
          <p:cNvSpPr/>
          <p:nvPr/>
        </p:nvSpPr>
        <p:spPr>
          <a:xfrm>
            <a:off x="841248" y="2221992"/>
            <a:ext cx="146304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1" name="Shape 9"/>
          <p:cNvSpPr/>
          <p:nvPr/>
        </p:nvSpPr>
        <p:spPr>
          <a:xfrm>
            <a:off x="1042416" y="2221992"/>
            <a:ext cx="146304" cy="118872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395728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7BF0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HTMLとCSSとJavaScriptを使ったシンプルなTODOアプリを作ってください。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やることを入力できて、完了チェックできて、削除できる機能を持つものにしてください。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730752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EBF5FF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822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💡  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43000" y="379476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自然な日本語で「やりたいこと」を伝えるだけ。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箇条書きや難しい英語は一切不要！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709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WEIN / BACKSTAGE Group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858000" y="4709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5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Code講座 — セクション1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0" y="182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AI+ School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エラーが出たら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3657600" cy="2834640"/>
          </a:xfrm>
          <a:prstGeom prst="roundRect">
            <a:avLst>
              <a:gd name="adj" fmla="val 3226"/>
            </a:avLst>
          </a:prstGeom>
          <a:solidFill>
            <a:srgbClr val="0D1117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353312"/>
            <a:ext cx="146304" cy="11887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1353312"/>
            <a:ext cx="146304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950976" y="1353312"/>
            <a:ext cx="146304" cy="118872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35331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Output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48640" y="1600200"/>
            <a:ext cx="3291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node app.js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TypeError: Cannot read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properties of undefined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(reading 'length')
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 script.js:14:22
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 Array.forEach
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(&lt;anonymous&gt;)
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31520" y="4096512"/>
            <a:ext cx="2926080" cy="274320"/>
          </a:xfrm>
          <a:prstGeom prst="roundRect">
            <a:avLst>
              <a:gd name="adj" fmla="val 13333"/>
            </a:avLst>
          </a:prstGeom>
          <a:solidFill>
            <a:srgbClr val="FFEBEE"/>
          </a:solidFill>
          <a:ln w="6350">
            <a:solidFill>
              <a:srgbClr val="FF6B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0965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エラーが出ました。修正してください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069080" y="237744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069080" y="29260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AIが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自動修正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120640" y="1188720"/>
            <a:ext cx="3657600" cy="2834640"/>
          </a:xfrm>
          <a:prstGeom prst="roundRect">
            <a:avLst>
              <a:gd name="adj" fmla="val 3226"/>
            </a:avLst>
          </a:prstGeom>
          <a:solidFill>
            <a:srgbClr val="0D1117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0" y="1353312"/>
            <a:ext cx="146304" cy="11887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7" name="Shape 15"/>
          <p:cNvSpPr/>
          <p:nvPr/>
        </p:nvSpPr>
        <p:spPr>
          <a:xfrm>
            <a:off x="5504688" y="1353312"/>
            <a:ext cx="146304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8" name="Shape 16"/>
          <p:cNvSpPr/>
          <p:nvPr/>
        </p:nvSpPr>
        <p:spPr>
          <a:xfrm>
            <a:off x="5705856" y="1353312"/>
            <a:ext cx="146304" cy="118872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9" name="Text 17"/>
          <p:cNvSpPr/>
          <p:nvPr/>
        </p:nvSpPr>
        <p:spPr>
          <a:xfrm>
            <a:off x="5303520" y="135331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8C8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Fixed Output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303520" y="1600200"/>
            <a:ext cx="3291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BD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Fixing TypeError at line 14...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Checking todos array init...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BF0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Added null check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BF0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Initialized todos = []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BF0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All tests passed
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7BF0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running successfully!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0" y="4096512"/>
            <a:ext cx="2926080" cy="274320"/>
          </a:xfrm>
          <a:prstGeom prst="roundRect">
            <a:avLst>
              <a:gd name="adj" fmla="val 13333"/>
            </a:avLst>
          </a:prstGeom>
          <a:solidFill>
            <a:srgbClr val="E9F7EF"/>
          </a:solidFill>
          <a:ln w="6350">
            <a:solidFill>
              <a:srgbClr val="28C8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0" y="40965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修正完了・正常動作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371600" y="4407408"/>
            <a:ext cx="6400800" cy="256032"/>
          </a:xfrm>
          <a:prstGeom prst="roundRect">
            <a:avLst>
              <a:gd name="adj" fmla="val 14286"/>
            </a:avLst>
          </a:prstGeom>
          <a:solidFill>
            <a:srgbClr val="F2F2F2"/>
          </a:solidFill>
          <a:ln/>
        </p:spPr>
      </p:sp>
      <p:sp>
        <p:nvSpPr>
          <p:cNvPr id="24" name="Text 22"/>
          <p:cNvSpPr/>
          <p:nvPr/>
        </p:nvSpPr>
        <p:spPr>
          <a:xfrm>
            <a:off x="1371600" y="440740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エラーすら含めて、AIが面倒を見てくれる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709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WEIN / BACKSTAGE Group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858000" y="4709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5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Code講座 — セクション1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0" y="182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AI+ School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まとめ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92240" y="502920"/>
            <a:ext cx="2103120" cy="548640"/>
          </a:xfrm>
          <a:prstGeom prst="roundRect">
            <a:avLst>
              <a:gd name="adj" fmla="val 16667"/>
            </a:avLst>
          </a:prstGeom>
          <a:solidFill>
            <a:srgbClr val="4A90D9"/>
          </a:solidFill>
          <a:ln/>
        </p:spPr>
      </p:sp>
      <p:sp>
        <p:nvSpPr>
          <p:cNvPr id="6" name="Text 4"/>
          <p:cNvSpPr/>
          <p:nvPr/>
        </p:nvSpPr>
        <p:spPr>
          <a:xfrm>
            <a:off x="6492240" y="5029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セクション1 完了！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7315200" cy="804672"/>
          </a:xfrm>
          <a:prstGeom prst="roundRect">
            <a:avLst>
              <a:gd name="adj" fmla="val 9091"/>
            </a:avLst>
          </a:prstGeom>
          <a:solidFill>
            <a:srgbClr val="EBF5FF"/>
          </a:solidFill>
          <a:ln w="10160">
            <a:solidFill>
              <a:srgbClr val="4A90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389888"/>
            <a:ext cx="384048" cy="384048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389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128016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プロンプトは完璧でなくていい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1627632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自然な日本語で「やりたいこと」を伝えるだけで、AIが意図を読み取って実装する。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212848"/>
            <a:ext cx="7315200" cy="804672"/>
          </a:xfrm>
          <a:prstGeom prst="roundRect">
            <a:avLst>
              <a:gd name="adj" fmla="val 9091"/>
            </a:avLst>
          </a:prstGeom>
          <a:solidFill>
            <a:srgbClr val="F3EEFF"/>
          </a:solidFill>
          <a:ln w="10160">
            <a:solidFill>
              <a:srgbClr val="7B61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2414016"/>
            <a:ext cx="384048" cy="384048"/>
          </a:xfrm>
          <a:prstGeom prst="ellipse">
            <a:avLst/>
          </a:prstGeom>
          <a:solidFill>
            <a:srgbClr val="7B61FF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414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2304288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6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AIが自律的に考え、自律的に実装する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265176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コードを手書きしなくていい。エラーも自分で直さなくていい。AIがすべて引き受ける。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236976"/>
            <a:ext cx="7315200" cy="804672"/>
          </a:xfrm>
          <a:prstGeom prst="roundRect">
            <a:avLst>
              <a:gd name="adj" fmla="val 9091"/>
            </a:avLst>
          </a:prstGeom>
          <a:solidFill>
            <a:srgbClr val="E9F7EF"/>
          </a:solidFill>
          <a:ln w="10160">
            <a:solidFill>
              <a:srgbClr val="27AE6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3438144"/>
            <a:ext cx="384048" cy="384048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438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34440" y="3328416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箱から出したままで、すぐに使える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3675888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特別な設定も難しい知識も不要。インストールしたその日から「動くアプリ」が作れる。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4206240"/>
            <a:ext cx="8229600" cy="384048"/>
          </a:xfrm>
          <a:prstGeom prst="roundRect">
            <a:avLst>
              <a:gd name="adj" fmla="val 11905"/>
            </a:avLst>
          </a:prstGeom>
          <a:solidFill>
            <a:srgbClr val="F2F2F2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20624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次のセクション → </a:t>
            </a:r>
            <a:pPr algn="ctr" indent="0" marL="0">
              <a:buNone/>
            </a:pPr>
            <a:r>
              <a:rPr lang="en-US" sz="11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AIの記憶とセキュリティ</a:t>
            </a:r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Claude Codeをもっと安全・賢く使うために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709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WEIN / BACKSTAGE Group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858000" y="4709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CC-S1-V5: 5分間で「動くアプリ」を自動で作らせてみよう！</dc:title>
  <dc:subject>PptxGenJS Presentation</dc:subject>
  <dc:creator>AI+ School</dc:creator>
  <cp:lastModifiedBy>AI+ School</cp:lastModifiedBy>
  <cp:revision>1</cp:revision>
  <dcterms:created xsi:type="dcterms:W3CDTF">2026-04-03T11:19:45Z</dcterms:created>
  <dcterms:modified xsi:type="dcterms:W3CDTF">2026-04-03T11:19:45Z</dcterms:modified>
</cp:coreProperties>
</file>